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300" b="1">
                <a:solidFill>
                  <a:srgbClr val="142337"/>
                </a:solidFill>
              </a:defRPr>
            </a:pPr>
            <a:r>
              <a:t>UART TX/RX IP Core</a:t>
            </a:r>
          </a:p>
          <a:p>
            <a:pPr algn="ctr">
              <a:defRPr sz="2200">
                <a:solidFill>
                  <a:srgbClr val="2369B4"/>
                </a:solidFill>
              </a:defRPr>
            </a:pPr>
            <a:r>
              <a:t>FSM-Based RTL Design and Loopback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49039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62B32"/>
                </a:solidFill>
              </a:defRPr>
            </a:pPr>
            <a:r>
              <a:t>VLSI Internship Project</a:t>
            </a:r>
          </a:p>
          <a:p>
            <a:pPr algn="ctr">
              <a:defRPr sz="1500">
                <a:solidFill>
                  <a:srgbClr val="5F6976"/>
                </a:solidFill>
              </a:defRPr>
            </a:pPr>
            <a:r>
              <a:t>Verilog RTL • Verilator • EPWave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Project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Objective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2B32"/>
                </a:solidFill>
                <a:latin typeface="Aptos"/>
              </a:defRPr>
            </a:pPr>
            <a:r>
              <a:t>• Design and verify a UART transmitter and receiver as reusable RTL IP blocks.</a:t>
            </a:r>
          </a:p>
          <a:p>
            <a:pPr>
              <a:spcAft>
                <a:spcPts val="1000"/>
              </a:spcAft>
              <a:defRPr sz="1800">
                <a:solidFill>
                  <a:srgbClr val="262B32"/>
                </a:solidFill>
                <a:latin typeface="Aptos"/>
              </a:defRPr>
            </a:pPr>
            <a:r>
              <a:t>• Implement the standard 8-N-1 UART frame: 1 start bit, 8 data bits, no parity and 1 stop bit.</a:t>
            </a:r>
          </a:p>
          <a:p>
            <a:pPr>
              <a:spcAft>
                <a:spcPts val="1000"/>
              </a:spcAft>
              <a:defRPr sz="1800">
                <a:solidFill>
                  <a:srgbClr val="262B32"/>
                </a:solidFill>
                <a:latin typeface="Aptos"/>
              </a:defRPr>
            </a:pPr>
            <a:r>
              <a:t>• Use finite-state machines to control transmission, reception, bit counting and timing.</a:t>
            </a:r>
          </a:p>
          <a:p>
            <a:pPr>
              <a:spcAft>
                <a:spcPts val="1000"/>
              </a:spcAft>
              <a:defRPr sz="1800">
                <a:solidFill>
                  <a:srgbClr val="262B32"/>
                </a:solidFill>
                <a:latin typeface="Aptos"/>
              </a:defRPr>
            </a:pPr>
            <a:r>
              <a:t>• Provide parameterized bit timing through CLKS_PER_BIT.</a:t>
            </a:r>
          </a:p>
          <a:p>
            <a:pPr>
              <a:spcAft>
                <a:spcPts val="1000"/>
              </a:spcAft>
              <a:defRPr sz="1800">
                <a:solidFill>
                  <a:srgbClr val="262B32"/>
                </a:solidFill>
                <a:latin typeface="Aptos"/>
              </a:defRPr>
            </a:pPr>
            <a:r>
              <a:t>• Verify the design through loopback simulation using Verilator and EPWave.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UART IP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Separate TX and RX FSMs connected through a serial loopback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2337"/>
                </a:solidFill>
              </a:defRPr>
            </a:pPr>
            <a:r>
              <a:t>TX FSM</a:t>
            </a:r>
          </a:p>
          <a:p>
            <a:pPr algn="ctr">
              <a:defRPr sz="1300">
                <a:solidFill>
                  <a:srgbClr val="5F6976"/>
                </a:solidFill>
              </a:defRPr>
            </a:pPr>
            <a:r>
              <a:t>Parallel data → serial TX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96596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267712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2337"/>
                </a:solidFill>
              </a:defRPr>
            </a:pPr>
            <a:r>
              <a:t>Serial Link</a:t>
            </a:r>
          </a:p>
          <a:p>
            <a:pPr algn="ctr">
              <a:defRPr sz="1300">
                <a:solidFill>
                  <a:srgbClr val="5F6976"/>
                </a:solidFill>
              </a:defRPr>
            </a:pPr>
            <a:r>
              <a:t>UART TX line / loopback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6596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267712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2337"/>
                </a:solidFill>
              </a:defRPr>
            </a:pPr>
            <a:r>
              <a:t>RX FSM</a:t>
            </a:r>
          </a:p>
          <a:p>
            <a:pPr algn="ctr">
              <a:defRPr sz="1300">
                <a:solidFill>
                  <a:srgbClr val="5F6976"/>
                </a:solidFill>
              </a:defRPr>
            </a:pPr>
            <a:r>
              <a:t>Serial RX → parallel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03320" y="2395728"/>
            <a:ext cx="594360" cy="411480"/>
          </a:xfrm>
          <a:prstGeom prst="rightArrow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223760" y="2395728"/>
            <a:ext cx="594360" cy="411480"/>
          </a:xfrm>
          <a:prstGeom prst="rightArrow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B32"/>
                </a:solidFill>
                <a:latin typeface="Aptos"/>
              </a:defRPr>
            </a:pPr>
            <a:r>
              <a:t>• TX states: IDLE → START → DATA → STOP</a:t>
            </a:r>
          </a:p>
          <a:p>
            <a:pPr>
              <a:spcAft>
                <a:spcPts val="1000"/>
              </a:spcAft>
              <a:defRPr sz="1600">
                <a:solidFill>
                  <a:srgbClr val="262B32"/>
                </a:solidFill>
                <a:latin typeface="Aptos"/>
              </a:defRPr>
            </a:pPr>
            <a:r>
              <a:t>• RX states: IDLE → START → DATA → STOP</a:t>
            </a:r>
          </a:p>
          <a:p>
            <a:pPr>
              <a:spcAft>
                <a:spcPts val="1000"/>
              </a:spcAft>
              <a:defRPr sz="1600">
                <a:solidFill>
                  <a:srgbClr val="262B32"/>
                </a:solidFill>
                <a:latin typeface="Aptos"/>
              </a:defRPr>
            </a:pPr>
            <a:r>
              <a:t>• Bit counters track the eight data bits; clock counters define bit timing.</a:t>
            </a:r>
          </a:p>
          <a:p>
            <a:pPr>
              <a:spcAft>
                <a:spcPts val="1000"/>
              </a:spcAft>
              <a:defRPr sz="1600">
                <a:solidFill>
                  <a:srgbClr val="262B32"/>
                </a:solidFill>
                <a:latin typeface="Aptos"/>
              </a:defRPr>
            </a:pPr>
            <a:r>
              <a:t>• Loopback connects TX directly to RX for end-to-end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UART Frame Format &amp;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8-N-1 serial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960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67712"/>
            <a:ext cx="960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START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2103120"/>
            <a:ext cx="822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267712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D0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03120"/>
            <a:ext cx="822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267712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D1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822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267712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D2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103120"/>
            <a:ext cx="822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267712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D3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103120"/>
            <a:ext cx="822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67712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D4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103120"/>
            <a:ext cx="822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267712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D5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103120"/>
            <a:ext cx="822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267712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D6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103120"/>
            <a:ext cx="8229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267712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D7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0" y="2103120"/>
            <a:ext cx="9601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23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2267712"/>
            <a:ext cx="960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337"/>
                </a:solidFill>
              </a:defRPr>
            </a:pPr>
            <a:r>
              <a:t>STOP</a:t>
            </a:r>
          </a:p>
          <a:p>
            <a:pPr algn="ctr">
              <a:defRPr sz="1400">
                <a:solidFill>
                  <a:srgbClr val="262B32"/>
                </a:solidFill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49039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2B32"/>
                </a:solidFill>
                <a:latin typeface="Aptos"/>
              </a:defRPr>
            </a:pPr>
            <a:r>
              <a:t>• UART line is idle-high; a low start bit marks the beginning of a frame.</a:t>
            </a:r>
          </a:p>
          <a:p>
            <a:pPr>
              <a:spcAft>
                <a:spcPts val="1000"/>
              </a:spcAft>
              <a:defRPr sz="1700">
                <a:solidFill>
                  <a:srgbClr val="262B32"/>
                </a:solidFill>
                <a:latin typeface="Aptos"/>
              </a:defRPr>
            </a:pPr>
            <a:r>
              <a:t>• Data is transmitted least-significant bit first.</a:t>
            </a:r>
          </a:p>
          <a:p>
            <a:pPr>
              <a:spcAft>
                <a:spcPts val="1000"/>
              </a:spcAft>
              <a:defRPr sz="1700">
                <a:solidFill>
                  <a:srgbClr val="262B32"/>
                </a:solidFill>
                <a:latin typeface="Aptos"/>
              </a:defRPr>
            </a:pPr>
            <a:r>
              <a:t>• The receiver detects the start bit, samples the eight data bits and checks the stop bit.</a:t>
            </a:r>
          </a:p>
          <a:p>
            <a:pPr>
              <a:spcAft>
                <a:spcPts val="1000"/>
              </a:spcAft>
              <a:defRPr sz="1700">
                <a:solidFill>
                  <a:srgbClr val="262B32"/>
                </a:solidFill>
                <a:latin typeface="Aptos"/>
              </a:defRPr>
            </a:pPr>
            <a:r>
              <a:t>• rx_valid pulses when a complete and valid byte has been reconstructed.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Tools &amp; Verification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RTL design → simulation → waveform analysis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38912" cy="438912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48132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0817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Verilog RTL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08176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2B32"/>
                </a:solidFill>
              </a:defRPr>
            </a:pPr>
            <a:r>
              <a:t>Implemented UART TX/RX FSMs with parameterized timing.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35000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768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Testbench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76856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2B32"/>
                </a:solidFill>
              </a:defRPr>
            </a:pPr>
            <a:r>
              <a:t>Generated clock, reset and two loopback data transactions.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438912" cy="438912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1868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4553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Verilator 5.044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145536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2B32"/>
                </a:solidFill>
              </a:defRPr>
            </a:pPr>
            <a:r>
              <a:t>Compiled and simulated the design.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023359"/>
            <a:ext cx="438912" cy="438912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08736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14215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VCD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014215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2B32"/>
                </a:solidFill>
              </a:defRPr>
            </a:pPr>
            <a:r>
              <a:t>Captured internal and external signal activity.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892040"/>
            <a:ext cx="438912" cy="438912"/>
          </a:xfrm>
          <a:prstGeom prst="ellipse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956048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8289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EPWave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882896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62B32"/>
                </a:solidFill>
              </a:defRPr>
            </a:pPr>
            <a:r>
              <a:t>Analyzed TX/RX data, FSM states and bit counters.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Simulation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Loopback verification of two independent data patterns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828800"/>
          <a:ext cx="9966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6705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42337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42337"/>
                          </a:solidFill>
                        </a:defRPr>
                      </a:pPr>
                      <a:r>
                        <a:t>TX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42337"/>
                          </a:solidFill>
                        </a:defRPr>
                      </a:pPr>
                      <a:r>
                        <a:t>RX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42337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B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B32"/>
                          </a:solidFill>
                        </a:defRPr>
                      </a:pPr>
                      <a:r>
                        <a:t>0xA5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B32"/>
                          </a:solidFill>
                        </a:defRPr>
                      </a:pPr>
                      <a:r>
                        <a:t>0xA5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B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B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B32"/>
                          </a:solidFill>
                        </a:defRPr>
                      </a:pPr>
                      <a:r>
                        <a:t>0x3C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B32"/>
                          </a:solidFill>
                        </a:defRPr>
                      </a:pPr>
                      <a:r>
                        <a:t>0x3C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B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2519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2B32"/>
                </a:solidFill>
                <a:latin typeface="Aptos"/>
              </a:defRPr>
            </a:pPr>
            <a:r>
              <a:t>• Both transmitted bytes were reconstructed correctly by the receiver.</a:t>
            </a:r>
          </a:p>
          <a:p>
            <a:pPr>
              <a:spcAft>
                <a:spcPts val="1000"/>
              </a:spcAft>
              <a:defRPr sz="1600">
                <a:solidFill>
                  <a:srgbClr val="262B32"/>
                </a:solidFill>
                <a:latin typeface="Aptos"/>
              </a:defRPr>
            </a:pPr>
            <a:r>
              <a:t>• rx_valid asserted after successful reception of each byte.</a:t>
            </a:r>
          </a:p>
          <a:p>
            <a:pPr>
              <a:spcAft>
                <a:spcPts val="1000"/>
              </a:spcAft>
              <a:defRPr sz="1600">
                <a:solidFill>
                  <a:srgbClr val="262B32"/>
                </a:solidFill>
                <a:latin typeface="Aptos"/>
              </a:defRPr>
            </a:pPr>
            <a:r>
              <a:t>• Verilator completed the simulation without compilation warnings or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Simulation Result – Detailed FSM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EPWave view of UART timing, state transitions and bit counters</a:t>
            </a:r>
          </a:p>
        </p:txBody>
      </p:sp>
      <p:pic>
        <p:nvPicPr>
          <p:cNvPr id="5" name="Picture 4" descr="ee0648d0-1248-4657-9a3e-0c847630c5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3000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6"/>
                </a:solidFill>
              </a:defRPr>
            </a:pPr>
            <a:r>
              <a:t>TX/RX FSMs progress through IDLE → START → DATA → STOP while bit and clock counters control the transfer.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Simulation Result – End-to-End Loopback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Complete simulation showing successful reception of 0xA5 and 0x3C</a:t>
            </a:r>
          </a:p>
        </p:txBody>
      </p:sp>
      <p:pic>
        <p:nvPicPr>
          <p:cNvPr id="5" name="Picture 4" descr="e4aac623-c0cd-40ca-b5d1-6b11e7cec0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32860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6"/>
                </a:solidFill>
              </a:defRPr>
            </a:pPr>
            <a:r>
              <a:t>rx_data changes to A5 and 3C, with rx_valid pulsing after each complete UART 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Verilator Simulation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Console evidence of successful loopback verification</a:t>
            </a:r>
          </a:p>
        </p:txBody>
      </p:sp>
      <p:pic>
        <p:nvPicPr>
          <p:cNvPr id="5" name="Picture 4" descr="e10cc88a-03da-42c4-bdbf-4b47ee1fb7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0972800" cy="2197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2B32"/>
                </a:solidFill>
                <a:latin typeface="Aptos"/>
              </a:defRPr>
            </a:pPr>
            <a:r>
              <a:t>• The UART transmitter and receiver were successfully implemented as synchronous Verilog RTL IP blocks.</a:t>
            </a:r>
          </a:p>
          <a:p>
            <a:pPr>
              <a:spcAft>
                <a:spcPts val="1000"/>
              </a:spcAft>
              <a:defRPr sz="1500">
                <a:solidFill>
                  <a:srgbClr val="262B32"/>
                </a:solidFill>
                <a:latin typeface="Aptos"/>
              </a:defRPr>
            </a:pPr>
            <a:r>
              <a:t>• The design uses FSM-based control, parameterized bit timing, start/stop-bit handling and 8-bit data transfer.</a:t>
            </a:r>
          </a:p>
          <a:p>
            <a:pPr>
              <a:spcAft>
                <a:spcPts val="1000"/>
              </a:spcAft>
              <a:defRPr sz="1500">
                <a:solidFill>
                  <a:srgbClr val="262B32"/>
                </a:solidFill>
                <a:latin typeface="Aptos"/>
              </a:defRPr>
            </a:pPr>
            <a:r>
              <a:t>• Loopback simulation successfully transmitted and received both 0xA5 and 0x3C.</a:t>
            </a:r>
          </a:p>
          <a:p>
            <a:pPr>
              <a:spcAft>
                <a:spcPts val="1000"/>
              </a:spcAft>
              <a:defRPr sz="1500">
                <a:solidFill>
                  <a:srgbClr val="262B32"/>
                </a:solidFill>
                <a:latin typeface="Aptos"/>
              </a:defRPr>
            </a:pPr>
            <a:r>
              <a:t>• EPWave analysis verified external data flow as well as internal FSM and counter behavior.</a:t>
            </a:r>
          </a:p>
          <a:p>
            <a:pPr>
              <a:spcAft>
                <a:spcPts val="1000"/>
              </a:spcAft>
              <a:defRPr sz="1500">
                <a:solidFill>
                  <a:srgbClr val="262B32"/>
                </a:solidFill>
                <a:latin typeface="Aptos"/>
              </a:defRPr>
            </a:pPr>
            <a:r>
              <a:t>• The project demonstrates practical RTL design and functional verification concepts applicable to digital/VLSI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7"/>
                </a:solidFill>
              </a:defRPr>
            </a:pPr>
            <a:r>
              <a:t>References</a:t>
            </a:r>
          </a:p>
          <a:p>
            <a:pPr>
              <a:defRPr sz="1050">
                <a:solidFill>
                  <a:srgbClr val="262B32"/>
                </a:solidFill>
              </a:defRPr>
            </a:pPr>
            <a:r>
              <a:t>• IEEE Std 1364 — Verilog Hardware Description Language.</a:t>
            </a:r>
          </a:p>
          <a:p>
            <a:pPr>
              <a:defRPr sz="1050">
                <a:solidFill>
                  <a:srgbClr val="262B32"/>
                </a:solidFill>
              </a:defRPr>
            </a:pPr>
            <a:r>
              <a:t>• Verilator Documentation — https://verilator.org/</a:t>
            </a:r>
          </a:p>
          <a:p>
            <a:pPr>
              <a:defRPr sz="1050">
                <a:solidFill>
                  <a:srgbClr val="262B32"/>
                </a:solidFill>
              </a:defRPr>
            </a:pPr>
            <a:r>
              <a:t>• GTKWave — https://gtkwave.sourceforge.net/</a:t>
            </a:r>
          </a:p>
          <a:p>
            <a:pPr>
              <a:defRPr sz="1050">
                <a:solidFill>
                  <a:srgbClr val="262B32"/>
                </a:solidFill>
              </a:defRPr>
            </a:pPr>
            <a:r>
              <a:t>• EDA Playground — https://www.edaplayground.com/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UART TX/RX IP Core | VLSI Internship Project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